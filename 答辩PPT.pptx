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15" d="100"/>
          <a:sy n="115" d="100"/>
        </p:scale>
        <p:origin x="70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80000" y="1980000"/>
            <a:ext cx="9720000" cy="180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80000" y="720000"/>
            <a:ext cx="972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Microsoft YaHei"/>
              </a:defRPr>
            </a:pPr>
            <a:r>
              <a:t>电信客户流失预测与价值细分系统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0000" y="2088000"/>
            <a:ext cx="972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D6EAF8"/>
                </a:solidFill>
                <a:latin typeface="Microsoft YaHei"/>
              </a:defRPr>
            </a:pPr>
            <a:r>
              <a:t>基于机器学习的客户流失分析与业务策略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000" y="5040000"/>
            <a:ext cx="9720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66573"/>
                </a:solidFill>
                <a:latin typeface="Microsoft YaHei"/>
              </a:defRPr>
            </a:pPr>
            <a:r>
              <a:rPr dirty="0" err="1"/>
              <a:t>小组成员</a:t>
            </a:r>
            <a:r>
              <a:rPr dirty="0"/>
              <a:t>：</a:t>
            </a:r>
            <a:r>
              <a:rPr lang="zh-CN" altLang="en-US" dirty="0"/>
              <a:t>张嘉鹏</a:t>
            </a:r>
            <a:r>
              <a:rPr dirty="0"/>
              <a:t>  |  </a:t>
            </a:r>
            <a:r>
              <a:rPr lang="zh-CN" altLang="en-US" dirty="0"/>
              <a:t>陈国俊</a:t>
            </a:r>
            <a:r>
              <a:rPr dirty="0"/>
              <a:t>  |  </a:t>
            </a:r>
            <a:r>
              <a:rPr lang="zh-CN" altLang="en-US" dirty="0"/>
              <a:t>郑圣豪</a:t>
            </a:r>
            <a:br>
              <a:rPr dirty="0"/>
            </a:br>
            <a:r>
              <a:rPr dirty="0"/>
              <a:t>专业班级：</a:t>
            </a:r>
            <a:r>
              <a:rPr lang="en-US" dirty="0"/>
              <a:t>24</a:t>
            </a:r>
            <a:r>
              <a:rPr lang="zh-CN" altLang="en-US" dirty="0"/>
              <a:t>计算机科学与技术</a:t>
            </a:r>
            <a:r>
              <a:rPr lang="en-US" altLang="zh-CN" dirty="0"/>
              <a:t>2</a:t>
            </a:r>
            <a:r>
              <a:rPr lang="zh-CN" altLang="en-US" dirty="0"/>
              <a:t>班</a:t>
            </a:r>
            <a:br>
              <a:rPr dirty="0"/>
            </a:br>
            <a:r>
              <a:rPr dirty="0" err="1"/>
              <a:t>指导老师</a:t>
            </a:r>
            <a:r>
              <a:rPr dirty="0"/>
              <a:t>：</a:t>
            </a:r>
            <a:r>
              <a:rPr lang="zh-CN" altLang="en-US" dirty="0"/>
              <a:t>蓝连涛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92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0" tIns="180000" rtlCol="0" anchor="ctr"/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汇报提纲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0000" y="6660000"/>
            <a:ext cx="10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66573"/>
                </a:solidFill>
                <a:latin typeface="Microsoft YaHei"/>
              </a:defRPr>
            </a:pPr>
            <a:r>
              <a:t>2 /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0000" y="1260000"/>
            <a:ext cx="10800000" cy="46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1B3A5C"/>
                </a:solidFill>
                <a:latin typeface="Microsoft YaHei"/>
              </a:defRPr>
            </a:pPr>
            <a:r>
              <a:t>1. 项目背景与问题定义</a:t>
            </a:r>
          </a:p>
          <a:p>
            <a:pPr>
              <a:spcAft>
                <a:spcPts val="800"/>
              </a:spcAft>
              <a:defRPr sz="2200">
                <a:solidFill>
                  <a:srgbClr val="1B3A5C"/>
                </a:solidFill>
                <a:latin typeface="Microsoft YaHei"/>
              </a:defRPr>
            </a:pPr>
            <a:r>
              <a:t>2. 数据集与预处理</a:t>
            </a:r>
          </a:p>
          <a:p>
            <a:pPr>
              <a:spcAft>
                <a:spcPts val="800"/>
              </a:spcAft>
              <a:defRPr sz="2200">
                <a:solidFill>
                  <a:srgbClr val="1B3A5C"/>
                </a:solidFill>
                <a:latin typeface="Microsoft YaHei"/>
              </a:defRPr>
            </a:pPr>
            <a:r>
              <a:t>3. 技术路线总览</a:t>
            </a:r>
          </a:p>
          <a:p>
            <a:pPr>
              <a:spcAft>
                <a:spcPts val="800"/>
              </a:spcAft>
              <a:defRPr sz="2200">
                <a:solidFill>
                  <a:srgbClr val="1B3A5C"/>
                </a:solidFill>
                <a:latin typeface="Microsoft YaHei"/>
              </a:defRPr>
            </a:pPr>
            <a:r>
              <a:t>4. 特征工程：RFM + WOE</a:t>
            </a:r>
          </a:p>
          <a:p>
            <a:pPr>
              <a:spcAft>
                <a:spcPts val="800"/>
              </a:spcAft>
              <a:defRPr sz="2200">
                <a:solidFill>
                  <a:srgbClr val="1B3A5C"/>
                </a:solidFill>
                <a:latin typeface="Microsoft YaHei"/>
              </a:defRPr>
            </a:pPr>
            <a:r>
              <a:t>5. 类别不平衡处理：SMOTE</a:t>
            </a:r>
          </a:p>
          <a:p>
            <a:pPr>
              <a:spcAft>
                <a:spcPts val="800"/>
              </a:spcAft>
              <a:defRPr sz="2200">
                <a:solidFill>
                  <a:srgbClr val="1B3A5C"/>
                </a:solidFill>
                <a:latin typeface="Microsoft YaHei"/>
              </a:defRPr>
            </a:pPr>
            <a:r>
              <a:t>6. 模型构建与对比实验</a:t>
            </a:r>
          </a:p>
          <a:p>
            <a:pPr>
              <a:spcAft>
                <a:spcPts val="800"/>
              </a:spcAft>
              <a:defRPr sz="2200">
                <a:solidFill>
                  <a:srgbClr val="1B3A5C"/>
                </a:solidFill>
                <a:latin typeface="Microsoft YaHei"/>
              </a:defRPr>
            </a:pPr>
            <a:r>
              <a:t>7. 实验结果分析</a:t>
            </a:r>
          </a:p>
          <a:p>
            <a:pPr>
              <a:spcAft>
                <a:spcPts val="800"/>
              </a:spcAft>
              <a:defRPr sz="2200">
                <a:solidFill>
                  <a:srgbClr val="1B3A5C"/>
                </a:solidFill>
                <a:latin typeface="Microsoft YaHei"/>
              </a:defRPr>
            </a:pPr>
            <a:r>
              <a:t>8. SHAP可解释性与聚类细分</a:t>
            </a:r>
          </a:p>
          <a:p>
            <a:pPr>
              <a:spcAft>
                <a:spcPts val="800"/>
              </a:spcAft>
              <a:defRPr sz="2200">
                <a:solidFill>
                  <a:srgbClr val="1B3A5C"/>
                </a:solidFill>
                <a:latin typeface="Microsoft YaHei"/>
              </a:defRPr>
            </a:pPr>
            <a:r>
              <a:t>9. 业务策略建议</a:t>
            </a:r>
          </a:p>
          <a:p>
            <a:pPr>
              <a:spcAft>
                <a:spcPts val="800"/>
              </a:spcAft>
              <a:defRPr sz="2200">
                <a:solidFill>
                  <a:srgbClr val="1B3A5C"/>
                </a:solidFill>
                <a:latin typeface="Microsoft YaHei"/>
              </a:defRPr>
            </a:pPr>
            <a:r>
              <a:t>10. 总结与展望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92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0" tIns="180000" rtlCol="0" anchor="ctr"/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1. 项目背景与问题定义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0000" y="6660000"/>
            <a:ext cx="10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66573"/>
                </a:solidFill>
                <a:latin typeface="Microsoft YaHei"/>
              </a:defRPr>
            </a:pPr>
            <a:r>
              <a:t>3 /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1080000"/>
            <a:ext cx="50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B3A5C"/>
                </a:solidFill>
                <a:latin typeface="Microsoft YaHei"/>
              </a:defRPr>
            </a:pPr>
            <a:r>
              <a:t>核心问题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1620000"/>
            <a:ext cx="5040000" cy="3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000000"/>
                </a:solidFill>
                <a:latin typeface="Microsoft YaHei"/>
              </a:defRPr>
            </a:pPr>
            <a:r>
              <a:t>电信客户流失率高达26.5%</a:t>
            </a:r>
          </a:p>
          <a:p>
            <a:pPr>
              <a:spcAft>
                <a:spcPts val="800"/>
              </a:spcAft>
              <a:defRPr sz="1500">
                <a:solidFill>
                  <a:srgbClr val="000000"/>
                </a:solidFill>
                <a:latin typeface="Microsoft YaHei"/>
              </a:defRPr>
            </a:pPr>
            <a:r>
              <a:t>获取新客户成本是维护老客户的5-6倍</a:t>
            </a:r>
          </a:p>
          <a:p>
            <a:pPr>
              <a:spcAft>
                <a:spcPts val="800"/>
              </a:spcAft>
              <a:defRPr sz="1500">
                <a:solidFill>
                  <a:srgbClr val="000000"/>
                </a:solidFill>
                <a:latin typeface="Microsoft YaHei"/>
              </a:defRPr>
            </a:pPr>
            <a:r>
              <a:t>客户留存率每提升5%，利润增加25%-95%</a:t>
            </a:r>
          </a:p>
          <a:p>
            <a:pPr>
              <a:spcAft>
                <a:spcPts val="800"/>
              </a:spcAft>
              <a:defRPr sz="1500">
                <a:solidFill>
                  <a:srgbClr val="000000"/>
                </a:solidFill>
                <a:latin typeface="Microsoft YaHei"/>
              </a:defRPr>
            </a:pPr>
            <a:r>
              <a:t>传统被动补救措施效果有限、成本高昂</a:t>
            </a:r>
          </a:p>
          <a:p>
            <a:pPr>
              <a:spcAft>
                <a:spcPts val="800"/>
              </a:spcAft>
              <a:defRPr sz="1500">
                <a:solidFill>
                  <a:srgbClr val="000000"/>
                </a:solidFill>
                <a:latin typeface="Microsoft YaHei"/>
              </a:defRPr>
            </a:pPr>
            <a:r>
              <a:t>需要主动预测+精准干预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0000" y="1080000"/>
            <a:ext cx="54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B3A5C"/>
                </a:solidFill>
                <a:latin typeface="Microsoft YaHei"/>
              </a:defRPr>
            </a:pPr>
            <a:r>
              <a:t>项目目标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0000" y="1620000"/>
            <a:ext cx="5400000" cy="3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000000"/>
                </a:solidFill>
                <a:latin typeface="Microsoft YaHei"/>
              </a:defRPr>
            </a:pPr>
            <a:r>
              <a:t>有监督：构建流失预测分类模型</a:t>
            </a:r>
          </a:p>
          <a:p>
            <a:pPr>
              <a:spcAft>
                <a:spcPts val="800"/>
              </a:spcAft>
              <a:defRPr sz="1500">
                <a:solidFill>
                  <a:srgbClr val="000000"/>
                </a:solidFill>
                <a:latin typeface="Microsoft YaHei"/>
              </a:defRPr>
            </a:pPr>
            <a:r>
              <a:t>  对比4种算法，选出最优模型</a:t>
            </a:r>
          </a:p>
          <a:p>
            <a:pPr>
              <a:spcAft>
                <a:spcPts val="800"/>
              </a:spcAft>
              <a:defRPr sz="1500">
                <a:solidFill>
                  <a:srgbClr val="000000"/>
                </a:solidFill>
                <a:latin typeface="Microsoft YaHei"/>
              </a:defRPr>
            </a:pPr>
            <a:r>
              <a:t>无监督：客户聚类细分</a:t>
            </a:r>
          </a:p>
          <a:p>
            <a:pPr>
              <a:spcAft>
                <a:spcPts val="800"/>
              </a:spcAft>
              <a:defRPr sz="1500">
                <a:solidFill>
                  <a:srgbClr val="000000"/>
                </a:solidFill>
                <a:latin typeface="Microsoft YaHei"/>
              </a:defRPr>
            </a:pPr>
            <a:r>
              <a:t>  K-Means + DBSCAN双方法对比</a:t>
            </a:r>
          </a:p>
          <a:p>
            <a:pPr>
              <a:spcAft>
                <a:spcPts val="800"/>
              </a:spcAft>
              <a:defRPr sz="1500">
                <a:solidFill>
                  <a:srgbClr val="000000"/>
                </a:solidFill>
                <a:latin typeface="Microsoft YaHei"/>
              </a:defRPr>
            </a:pPr>
            <a:r>
              <a:t>可解释：SHAP分析 + 业务策略</a:t>
            </a:r>
          </a:p>
          <a:p>
            <a:pPr>
              <a:spcAft>
                <a:spcPts val="800"/>
              </a:spcAft>
              <a:defRPr sz="1500">
                <a:solidFill>
                  <a:srgbClr val="000000"/>
                </a:solidFill>
                <a:latin typeface="Microsoft YaHei"/>
              </a:defRPr>
            </a:pPr>
            <a:r>
              <a:t>  从"黑箱预测"到可操作的洞察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0000" y="5580000"/>
            <a:ext cx="11160000" cy="720000"/>
          </a:xfrm>
          <a:prstGeom prst="round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1B3A5C"/>
                </a:solidFill>
                <a:latin typeface="Microsoft YaHei"/>
              </a:defRPr>
            </a:pPr>
            <a:r>
              <a:t>核心目标：构建"流失预警 + 客户分群"双模块分析系统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92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0" tIns="180000" rtlCol="0" anchor="ctr"/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2. 数据集概览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0000" y="6660000"/>
            <a:ext cx="10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66573"/>
                </a:solidFill>
                <a:latin typeface="Microsoft YaHei"/>
              </a:defRPr>
            </a:pPr>
            <a:r>
              <a:t>4 /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1080000"/>
            <a:ext cx="111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566573"/>
                </a:solidFill>
                <a:latin typeface="Microsoft YaHei"/>
              </a:defRPr>
            </a:pPr>
            <a:r>
              <a:t>Kaggle Telco Customer Churn Dataset  |  7,043条记录 × 21个特征  |  流失率 26.54%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0000" y="1800000"/>
          <a:ext cx="10800000" cy="2271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类别</a:t>
                      </a:r>
                    </a:p>
                  </a:txBody>
                  <a:tcPr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特征</a:t>
                      </a:r>
                    </a:p>
                  </a:txBody>
                  <a:tcPr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说明</a:t>
                      </a:r>
                    </a:p>
                  </a:txBody>
                  <a:tcPr>
                    <a:solidFill>
                      <a:srgbClr val="2E86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人口统计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gender, SeniorCitizen, Partner, Dependents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性别、老年人、伴侣、家属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账户信息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tenure, Contract, PaymentMethod, MonthlyCharges, TotalCharges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在网时长、合同类型、支付方式、费用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服务订阅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PhoneService, InternetService, OnlineSecurity 等9项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电话、互联网、安全、技术支持等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目标变量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Churn (Yes/No)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26.54% 流失 vs 73.46% 未流失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0000" y="5040000"/>
            <a:ext cx="111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74C3C"/>
                </a:solidFill>
                <a:latin typeface="Microsoft YaHei"/>
              </a:defRPr>
            </a:pPr>
            <a:r>
              <a:t>⚠ 数据挑战：类别不平衡（1:2.8）  |  TotalCharges存在空值  |  15个类别特征需编码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92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0" tIns="180000" rtlCol="0" anchor="ctr"/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3. 技术路线总览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0000" y="6660000"/>
            <a:ext cx="10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66573"/>
                </a:solidFill>
                <a:latin typeface="Microsoft YaHei"/>
              </a:defRPr>
            </a:pPr>
            <a:r>
              <a:t>5 / 15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0000" y="1260000"/>
            <a:ext cx="2520000" cy="720000"/>
          </a:xfrm>
          <a:prstGeom prst="round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数据层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0000" y="2160000"/>
            <a:ext cx="2520000" cy="1620000"/>
          </a:xfrm>
          <a:prstGeom prst="round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>
                <a:solidFill>
                  <a:srgbClr val="000000"/>
                </a:solidFill>
                <a:latin typeface="Microsoft YaHei"/>
              </a:defRPr>
            </a:pPr>
            <a:r>
              <a:t>数据加载</a:t>
            </a:r>
            <a:br/>
            <a:r>
              <a:t>缺失值处理</a:t>
            </a:r>
            <a:br/>
            <a:r>
              <a:t>Label Encoding</a:t>
            </a:r>
            <a:br/>
            <a:r>
              <a:t>EDA探索分析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131999" y="1620000"/>
            <a:ext cx="216000" cy="216000"/>
          </a:xfrm>
          <a:prstGeom prst="rightArrow">
            <a:avLst/>
          </a:prstGeom>
          <a:solidFill>
            <a:srgbClr val="566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420000" y="1260000"/>
            <a:ext cx="2520000" cy="720000"/>
          </a:xfrm>
          <a:prstGeom prst="roundRect">
            <a:avLst/>
          </a:prstGeom>
          <a:solidFill>
            <a:srgbClr val="1A96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特征层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0000" y="2160000"/>
            <a:ext cx="2520000" cy="1620000"/>
          </a:xfrm>
          <a:prstGeom prst="round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>
                <a:solidFill>
                  <a:srgbClr val="000000"/>
                </a:solidFill>
                <a:latin typeface="Microsoft YaHei"/>
              </a:defRPr>
            </a:pPr>
            <a:r>
              <a:t>RFM特征构建</a:t>
            </a:r>
            <a:br/>
            <a:r>
              <a:t>WOE分箱编码</a:t>
            </a:r>
            <a:br/>
            <a:r>
              <a:t>特征重要性</a:t>
            </a:r>
            <a:br/>
            <a:r>
              <a:t>预筛选</a:t>
            </a:r>
          </a:p>
        </p:txBody>
      </p:sp>
      <p:sp>
        <p:nvSpPr>
          <p:cNvPr id="9" name="Right Arrow 8"/>
          <p:cNvSpPr/>
          <p:nvPr/>
        </p:nvSpPr>
        <p:spPr>
          <a:xfrm>
            <a:off x="6012000" y="1620000"/>
            <a:ext cx="216000" cy="216000"/>
          </a:xfrm>
          <a:prstGeom prst="rightArrow">
            <a:avLst/>
          </a:prstGeom>
          <a:solidFill>
            <a:srgbClr val="566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300000" y="1260000"/>
            <a:ext cx="2520000" cy="72000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模型层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0000" y="2160000"/>
            <a:ext cx="2520000" cy="1620000"/>
          </a:xfrm>
          <a:prstGeom prst="round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>
                <a:solidFill>
                  <a:srgbClr val="000000"/>
                </a:solidFill>
                <a:latin typeface="Microsoft YaHei"/>
              </a:defRPr>
            </a:pPr>
            <a:r>
              <a:t>SMOTE过采样</a:t>
            </a:r>
            <a:br/>
            <a:r>
              <a:t>LR/RF/XGB/LGBM</a:t>
            </a:r>
            <a:br/>
            <a:r>
              <a:t>5折交叉验证</a:t>
            </a:r>
            <a:br/>
            <a:r>
              <a:t>K-Means/DBSCAN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8892000" y="1620000"/>
            <a:ext cx="216000" cy="216000"/>
          </a:xfrm>
          <a:prstGeom prst="rightArrow">
            <a:avLst/>
          </a:prstGeom>
          <a:solidFill>
            <a:srgbClr val="566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9180000" y="1260000"/>
            <a:ext cx="2520000" cy="720000"/>
          </a:xfrm>
          <a:prstGeom prst="round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应用层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80000" y="2160000"/>
            <a:ext cx="2520000" cy="1620000"/>
          </a:xfrm>
          <a:prstGeom prst="round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>
                <a:solidFill>
                  <a:srgbClr val="000000"/>
                </a:solidFill>
                <a:latin typeface="Microsoft YaHei"/>
              </a:defRPr>
            </a:pPr>
            <a:r>
              <a:t>SHAP可解释性</a:t>
            </a:r>
            <a:br/>
            <a:r>
              <a:t>聚类画像</a:t>
            </a:r>
            <a:br/>
            <a:r>
              <a:t>业务策略输出</a:t>
            </a:r>
            <a:br/>
            <a:r>
              <a:t>结果可视化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0000" y="4140000"/>
            <a:ext cx="111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566573"/>
                </a:solidFill>
                <a:latin typeface="Microsoft YaHei"/>
              </a:defRPr>
            </a:pPr>
            <a:r>
              <a:t>核心技术栈：Scikit-learn | XGBoost | LightGBM | SMOTE | SHAP | K-Means | PCA | matplotlib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0000" y="5040000"/>
            <a:ext cx="11160000" cy="720000"/>
          </a:xfrm>
          <a:prstGeom prst="round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1B3A5C"/>
                </a:solidFill>
                <a:latin typeface="Microsoft YaHei"/>
              </a:defRPr>
            </a:pPr>
            <a:r>
              <a:t>核心创新：RFM+WOE复合特征工程  +  SHAP可解释性分析  +  有监督+无监督双模块融合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92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0" tIns="180000" rtlCol="0" anchor="ctr"/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4. 特征工程：RFM + WOE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0000" y="6660000"/>
            <a:ext cx="10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66573"/>
                </a:solidFill>
                <a:latin typeface="Microsoft YaHei"/>
              </a:defRPr>
            </a:pPr>
            <a:r>
              <a:t>6 /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1080000"/>
            <a:ext cx="54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B3A5C"/>
                </a:solidFill>
                <a:latin typeface="Microsoft YaHei"/>
              </a:defRPr>
            </a:pPr>
            <a:r>
              <a:t>RFM 特征构建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1620000"/>
            <a:ext cx="5400000" cy="3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Microsoft YaHei"/>
              </a:defRPr>
            </a:pPr>
            <a:r>
              <a:t>R (Recency)：1 / (tenure + 1)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Microsoft YaHei"/>
              </a:defRPr>
            </a:pPr>
            <a:r>
              <a:t>  新客户R值高 → 流失风险高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Microsoft YaHei"/>
              </a:defRPr>
            </a:pPr>
            <a:r>
              <a:t>F (Frequency)：订阅服务数量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Microsoft YaHei"/>
              </a:defRPr>
            </a:pPr>
            <a:r>
              <a:t>  共9项增值服务，反映客户粘性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Microsoft YaHei"/>
              </a:defRPr>
            </a:pPr>
            <a:r>
              <a:t>M (Monetary)：MonthlyCharges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Microsoft YaHei"/>
              </a:defRPr>
            </a:pPr>
            <a:r>
              <a:t>  直接衡量客户消费价值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Microsoft YaHei"/>
              </a:defRPr>
            </a:pPr>
            <a:r>
              <a:t>RFM_Total：三维特征联合评分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0000" y="1080000"/>
            <a:ext cx="54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B3A5C"/>
                </a:solidFill>
                <a:latin typeface="Microsoft YaHei"/>
              </a:defRPr>
            </a:pPr>
            <a:r>
              <a:t>WOE 分箱编码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0000" y="1620000"/>
            <a:ext cx="5400000" cy="3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Microsoft YaHei"/>
              </a:defRPr>
            </a:pPr>
            <a:r>
              <a:t>Weight of Evidence（证据权重）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Microsoft YaHei"/>
              </a:defRPr>
            </a:pPr>
            <a:r>
              <a:t>有监督离散化，提升线性模型表现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Microsoft YaHei"/>
              </a:defRPr>
            </a:pPr>
            <a:endParaRPr/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Microsoft YaHei"/>
              </a:defRPr>
            </a:pPr>
            <a:r>
              <a:t>对 tenure / MonthlyCharges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Microsoft YaHei"/>
              </a:defRPr>
            </a:pPr>
            <a:r>
              <a:t>/ TotalCharges 做等频分箱(q=10)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Microsoft YaHei"/>
              </a:defRPr>
            </a:pPr>
            <a:endParaRPr/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Microsoft YaHei"/>
              </a:defRPr>
            </a:pPr>
            <a:r>
              <a:t>WOE = ln(好客户占比 / 坏客户占比)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Microsoft YaHei"/>
              </a:defRPr>
            </a:pPr>
            <a:endParaRPr/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Microsoft YaHei"/>
              </a:defRPr>
            </a:pPr>
            <a:r>
              <a:t>→ 原始19维 → 27维特征空间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0000" y="5040000"/>
            <a:ext cx="11160000" cy="720000"/>
          </a:xfrm>
          <a:prstGeom prst="round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1B3A5C"/>
                </a:solidFill>
                <a:latin typeface="Microsoft YaHei"/>
              </a:defRPr>
            </a:pPr>
            <a:r>
              <a:t>特征工程效果：逻辑回归 AUC 提升 +0.032（0.8035 → 0.8359）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92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0" tIns="180000" rtlCol="0" anchor="ctr"/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5. 类别不平衡处理：SMOTE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0000" y="6660000"/>
            <a:ext cx="10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66573"/>
                </a:solidFill>
                <a:latin typeface="Microsoft YaHei"/>
              </a:defRPr>
            </a:pPr>
            <a:r>
              <a:t>7 /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1080000"/>
            <a:ext cx="111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566573"/>
                </a:solidFill>
                <a:latin typeface="Microsoft YaHei"/>
              </a:defRPr>
            </a:pPr>
            <a:r>
              <a:t>问题：流失客户仅占26.5%（1,869人），模型易偏向预测多数类（不流失）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1980000"/>
            <a:ext cx="50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B3A5C"/>
                </a:solidFill>
                <a:latin typeface="Microsoft YaHei"/>
              </a:defRPr>
            </a:pPr>
            <a:r>
              <a:t>处理策略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0000" y="2520000"/>
            <a:ext cx="5040000" cy="28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Microsoft YaHei"/>
              </a:defRPr>
            </a:pPr>
            <a:r>
              <a:t>SMOTE 过采样（Synthetic Minority Oversampling）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Microsoft YaHei"/>
              </a:defRPr>
            </a:pPr>
            <a:r>
              <a:t>在特征空间中为流失样本找k近邻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Microsoft YaHei"/>
              </a:defRPr>
            </a:pPr>
            <a:r>
              <a:t>在近邻之间随机线性插值生成新样本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Microsoft YaHei"/>
              </a:defRPr>
            </a:pPr>
            <a:r>
              <a:t>仅在训练集上执行，测试集保持原分布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Microsoft YaHei"/>
              </a:defRPr>
            </a:pPr>
            <a:r>
              <a:t>处理后：5,634 → 8,278 样本（1:1 平衡）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0000" y="1980000"/>
            <a:ext cx="54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B3A5C"/>
                </a:solidFill>
                <a:latin typeface="Microsoft YaHei"/>
              </a:defRPr>
            </a:pPr>
            <a:r>
              <a:t>为什么不用其他方法？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0000" y="2520000"/>
            <a:ext cx="5400000" cy="28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Microsoft YaHei"/>
              </a:defRPr>
            </a:pPr>
            <a:r>
              <a:t>欠采样（RandomUnderSampler）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Microsoft YaHei"/>
              </a:defRPr>
            </a:pPr>
            <a:r>
              <a:t>  → 丢失4,139条非流失样本，信息损失大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Microsoft YaHei"/>
              </a:defRPr>
            </a:pPr>
            <a:r>
              <a:t>代价敏感学习（Class Weight）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Microsoft YaHei"/>
              </a:defRPr>
            </a:pPr>
            <a:r>
              <a:t>  → 需预设代价比例，业务中难以精确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Microsoft YaHei"/>
              </a:defRPr>
            </a:pPr>
            <a:r>
              <a:t>集成采样（EasyEnsemble）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Microsoft YaHei"/>
              </a:defRPr>
            </a:pPr>
            <a:r>
              <a:t>  → 训练开销大，效果提升有限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Microsoft YaHei"/>
              </a:defRPr>
            </a:pPr>
            <a:endParaRPr/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Microsoft YaHei"/>
              </a:defRPr>
            </a:pPr>
            <a:r>
              <a:t>✅ SMOTE：保留全部信息 + 平衡类别 + 实现简单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0000" y="5580000"/>
            <a:ext cx="11160000" cy="540000"/>
          </a:xfrm>
          <a:prstGeom prst="round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1B3A5C"/>
                </a:solidFill>
                <a:latin typeface="Microsoft YaHei"/>
              </a:defRPr>
            </a:pPr>
            <a:r>
              <a:t>SMOTE效果：流失客户Recall从~40%提升至71.4%（+30个百分点）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92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0" tIns="180000" rtlCol="0" anchor="ctr"/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6. 模型构建与对比实验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0000" y="6660000"/>
            <a:ext cx="10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66573"/>
                </a:solidFill>
                <a:latin typeface="Microsoft YaHei"/>
              </a:defRPr>
            </a:pPr>
            <a:r>
              <a:t>8 / 15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0000" y="1260000"/>
          <a:ext cx="10800000" cy="2418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0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模型</a:t>
                      </a:r>
                    </a:p>
                  </a:txBody>
                  <a:tcPr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类型</a:t>
                      </a:r>
                    </a:p>
                  </a:txBody>
                  <a:tcPr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关键参数</a:t>
                      </a:r>
                    </a:p>
                  </a:txBody>
                  <a:tcPr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特点</a:t>
                      </a:r>
                    </a:p>
                  </a:txBody>
                  <a:tcPr>
                    <a:solidFill>
                      <a:srgbClr val="2E86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逻辑回归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线性分类器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C=1.0, solver=liblinear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可解释性强，训练快速，线性基线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随机森林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Bagging集成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n=200, depth=10, min_split=10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抗过拟合，特征重要性，无需缩放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XGBoost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Boosting集成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n=200, depth=6, lr=0.1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L1/L2正则化，工业界首选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LightGBM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Boosting集成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n=200, depth=6, leaves=31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直方图算法，leaf-wise，速度快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0000" y="3780000"/>
            <a:ext cx="111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B3A5C"/>
                </a:solidFill>
                <a:latin typeface="Microsoft YaHei"/>
              </a:defRPr>
            </a:pPr>
            <a:r>
              <a:t>评估策略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0000" y="4320000"/>
          <a:ext cx="10800000" cy="21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项目</a:t>
                      </a:r>
                    </a:p>
                  </a:txBody>
                  <a:tcPr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设置</a:t>
                      </a:r>
                    </a:p>
                  </a:txBody>
                  <a:tcPr>
                    <a:solidFill>
                      <a:srgbClr val="2E86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评估指标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Accuracy, Precision, Recall, F1, ROC-AUC, PR-AUC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验证方法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5折分层交叉验证（StratifiedKFold, shuffle=True）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数据划分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80%训练（含SMOTE） / 20%测试（保持原始分布）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随机种子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42（所有实验固定，确保完全可复现）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92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0" tIns="180000" rtlCol="0" anchor="ctr"/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7. 实验结果 — 5折交叉验证（SMOTE训练集）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0000" y="6660000"/>
            <a:ext cx="10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66573"/>
                </a:solidFill>
                <a:latin typeface="Microsoft YaHei"/>
              </a:defRPr>
            </a:pPr>
            <a:r>
              <a:t>9 / 15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0000" y="1260000"/>
          <a:ext cx="10800000" cy="224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0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0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0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模型</a:t>
                      </a:r>
                    </a:p>
                  </a:txBody>
                  <a:tcPr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Precision</a:t>
                      </a:r>
                    </a:p>
                  </a:txBody>
                  <a:tcPr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Recall</a:t>
                      </a:r>
                    </a:p>
                  </a:txBody>
                  <a:tcPr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F1</a:t>
                      </a:r>
                    </a:p>
                  </a:txBody>
                  <a:tcPr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ROC-AUC</a:t>
                      </a:r>
                    </a:p>
                  </a:txBody>
                  <a:tcPr>
                    <a:solidFill>
                      <a:srgbClr val="2E86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Logistic Regression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0.8195 ± 0.0076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0.7977 ± 0.0076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0.8562 ± 0.0136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0.8259 ± 0.0079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0.9089 ± 0.0039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Random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0.8384 ± 0.0099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0.8193 ± 0.0093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0.8683 ± 0.0150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0.8430 ± 0.0101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0.9175 ± 0.0035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XGBoost 🏆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0.8530 ± 0.0089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0.8531 ± 0.0077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0.8529 ± 0.0140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0.8529 ± 0.0094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0.9337 ± 0.0040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LightGBM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0.8524 ± 0.0071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0.8499 ± 0.0068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0.8560 ± 0.0097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0.8529 ± 0.0073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0.9325 ± 0.0041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0000" y="4320000"/>
            <a:ext cx="111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3A5C"/>
                </a:solidFill>
                <a:latin typeface="Microsoft YaHei"/>
              </a:defRPr>
            </a:pPr>
            <a:r>
              <a:t>📌 XGBoost在平衡训练集上最优（ROC-AUC=0.9337），集成学习优势明显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0000" y="5040000"/>
            <a:ext cx="1116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E74C3C"/>
                </a:solidFill>
                <a:latin typeface="Microsoft YaHei"/>
              </a:defRPr>
            </a:pPr>
            <a:r>
              <a:t>但！真实场景的测试集仍是不平衡的，让我们看测试集结果 →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92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0" tIns="180000" rtlCol="0" anchor="ctr"/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7. 实验结果 — 测试集评估（原始不平衡数据）⭐核心结果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0000" y="6660000"/>
            <a:ext cx="10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66573"/>
                </a:solidFill>
                <a:latin typeface="Microsoft YaHei"/>
              </a:defRPr>
            </a:pPr>
            <a:r>
              <a:t>10 / 15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0000" y="1260000"/>
          <a:ext cx="10800000" cy="2332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28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428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428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428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428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428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4285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模型</a:t>
                      </a:r>
                    </a:p>
                  </a:txBody>
                  <a:tcPr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Precision</a:t>
                      </a:r>
                    </a:p>
                  </a:txBody>
                  <a:tcPr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Recall</a:t>
                      </a:r>
                    </a:p>
                  </a:txBody>
                  <a:tcPr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F1</a:t>
                      </a:r>
                    </a:p>
                  </a:txBody>
                  <a:tcPr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ROC-AUC</a:t>
                      </a:r>
                    </a:p>
                  </a:txBody>
                  <a:tcPr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PR-AUC</a:t>
                      </a:r>
                    </a:p>
                  </a:txBody>
                  <a:tcPr>
                    <a:solidFill>
                      <a:srgbClr val="2E86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Logistic Regression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0.7594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0.5362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0.6925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0.6044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0.8359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0.6587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Random Forest 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0.7821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0.5717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0.7139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0.6350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0.8382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0.6527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XGBoost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0.7779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0.5788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0.5989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0.5887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0.8220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0.6313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LightGBM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0.7764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0.5774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0.5882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0.5828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0.8220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0.6353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0000" y="4140000"/>
            <a:ext cx="111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B3A5C"/>
                </a:solidFill>
                <a:latin typeface="Microsoft YaHei"/>
              </a:defRPr>
            </a:pPr>
            <a:r>
              <a:t>关键发现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0000" y="4680000"/>
            <a:ext cx="1116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Microsoft YaHei"/>
              </a:defRPr>
            </a:pPr>
            <a:r>
              <a:t>✅ 最优模型：随机森林 — ROC-AUC=0.8382，Recall=0.7139（能识别71.4%的流失客户）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Microsoft YaHei"/>
              </a:defRPr>
            </a:pPr>
            <a:r>
              <a:t>✅ XGBoost/LightGBM在平衡训练集上过拟合，真实数据上泛化略逊于随机森林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Microsoft YaHei"/>
              </a:defRPr>
            </a:pPr>
            <a:r>
              <a:t>✅ 逻辑回归在RFM+WOE加持下召回率达0.6925，且模型最简单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Microsoft YaHei"/>
              </a:defRPr>
            </a:pPr>
            <a:r>
              <a:t>✅ 所有模型PR-AUC远超随机基线（0.27），验证了模型的实用价值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92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0" tIns="180000" rtlCol="0" anchor="ctr"/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7. 模型评估可视化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0000" y="6660000"/>
            <a:ext cx="10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66573"/>
                </a:solidFill>
                <a:latin typeface="Microsoft YaHei"/>
              </a:defRPr>
            </a:pPr>
            <a:r>
              <a:t>11 / 15</a:t>
            </a:r>
          </a:p>
        </p:txBody>
      </p:sp>
      <p:pic>
        <p:nvPicPr>
          <p:cNvPr id="4" name="Picture 3" descr="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00" y="1080000"/>
            <a:ext cx="5040000" cy="2700000"/>
          </a:xfrm>
          <a:prstGeom prst="rect">
            <a:avLst/>
          </a:prstGeom>
        </p:spPr>
      </p:pic>
      <p:pic>
        <p:nvPicPr>
          <p:cNvPr id="5" name="Picture 4" descr="roc_curv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0000" y="1080000"/>
            <a:ext cx="5400000" cy="2700000"/>
          </a:xfrm>
          <a:prstGeom prst="rect">
            <a:avLst/>
          </a:prstGeom>
        </p:spPr>
      </p:pic>
      <p:pic>
        <p:nvPicPr>
          <p:cNvPr id="6" name="Picture 5" descr="confusion_matric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000" y="3960000"/>
            <a:ext cx="10800000" cy="2340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92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0" tIns="180000" rtlCol="0" anchor="ctr"/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8. SHAP可解释性 &amp; 客户聚类细分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0000" y="6660000"/>
            <a:ext cx="10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66573"/>
                </a:solidFill>
                <a:latin typeface="Microsoft YaHei"/>
              </a:defRPr>
            </a:pPr>
            <a:r>
              <a:t>12 /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1080000"/>
            <a:ext cx="50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3A5C"/>
                </a:solidFill>
                <a:latin typeface="Microsoft YaHei"/>
              </a:defRPr>
            </a:pPr>
            <a:r>
              <a:t>SHAP 特征重要性 Top-5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0000" y="1620000"/>
          <a:ext cx="10800000" cy="2591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0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1999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排名</a:t>
                      </a:r>
                    </a:p>
                  </a:txBody>
                  <a:tcPr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特征</a:t>
                      </a:r>
                    </a:p>
                  </a:txBody>
                  <a:tcPr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SHAP值</a:t>
                      </a:r>
                    </a:p>
                  </a:txBody>
                  <a:tcPr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业务解读</a:t>
                      </a:r>
                    </a:p>
                  </a:txBody>
                  <a:tcPr>
                    <a:solidFill>
                      <a:srgbClr val="2E86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1999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tenure_WOE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0.0592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在网时长非线性影响最大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1999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RFM_Total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0.0592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RFM综合评分联合效应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1999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MonthlyCharges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0.0557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高消费客户流失倾向略高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1999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PaymentMethod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0.0557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电子支票支付者风险偏高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2004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InternetService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0.0271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光纤用户流失率&gt;DSL用户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120000" y="1080000"/>
            <a:ext cx="54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3A5C"/>
                </a:solidFill>
                <a:latin typeface="Microsoft YaHei"/>
              </a:defRPr>
            </a:pPr>
            <a:r>
              <a:t>K-Means 客户聚类画像 (K=4)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120000" y="1620000"/>
          <a:ext cx="10800000" cy="21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群体</a:t>
                      </a:r>
                    </a:p>
                  </a:txBody>
                  <a:tcPr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人数</a:t>
                      </a:r>
                    </a:p>
                  </a:txBody>
                  <a:tcPr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流失率</a:t>
                      </a:r>
                    </a:p>
                  </a:txBody>
                  <a:tcPr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月费</a:t>
                      </a:r>
                    </a:p>
                  </a:txBody>
                  <a:tcPr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策略</a:t>
                      </a:r>
                    </a:p>
                  </a:txBody>
                  <a:tcPr>
                    <a:solidFill>
                      <a:srgbClr val="2E86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C0 中等风险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2,517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30.4%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$64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交叉销售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C1 VIP群体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2,226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21.3%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$95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重点维护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C2 ⚠高危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946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60.9%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$58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优先干预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C3 稳定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1,354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4.1%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$21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保持服务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40000" y="5040000"/>
            <a:ext cx="11160000" cy="900000"/>
          </a:xfrm>
          <a:prstGeom prst="round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1B3A5C"/>
                </a:solidFill>
                <a:latin typeface="Microsoft YaHei"/>
              </a:defRPr>
            </a:pPr>
            <a:r>
              <a:t>聚类质量：Silhouette Score = 0.xx  |  DBSCAN额外识别异常客户  |  四类客户需差异化运营策略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92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0" tIns="180000" rtlCol="0" anchor="ctr"/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7. 消融实验 — 验证特征工程有效性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0000" y="6660000"/>
            <a:ext cx="10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66573"/>
                </a:solidFill>
                <a:latin typeface="Microsoft YaHei"/>
              </a:defRPr>
            </a:pPr>
            <a:r>
              <a:t>13 /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1260000"/>
            <a:ext cx="111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566573"/>
                </a:solidFill>
                <a:latin typeface="Microsoft YaHei"/>
              </a:defRPr>
            </a:pPr>
            <a:r>
              <a:t>对比实验：原始特征(19维) vs 原始+RFM+WOE(27维)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20000" y="1980000"/>
          <a:ext cx="10800000" cy="21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0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实验条件</a:t>
                      </a:r>
                    </a:p>
                  </a:txBody>
                  <a:tcPr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Logistic Regression AUC</a:t>
                      </a:r>
                    </a:p>
                  </a:txBody>
                  <a:tcPr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Random Forest AUC</a:t>
                      </a:r>
                    </a:p>
                  </a:txBody>
                  <a:tcPr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提升</a:t>
                      </a:r>
                    </a:p>
                  </a:txBody>
                  <a:tcPr>
                    <a:solidFill>
                      <a:srgbClr val="2E86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原始特征（19维）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0.8035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0.8221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—（基线）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+ RFM特征（23维）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0.8201 (+0.017)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0.8289 (+0.007)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RFM贡献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+ WOE编码（27维）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0.8359 (+0.032)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0.8382 (+0.016)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WOE贡献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+ SMOTE过采样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Recall: 0.45→0.69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Recall: 0.48→0.71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SMOTE贡献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20000" y="4500000"/>
            <a:ext cx="1080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000000"/>
                </a:solidFill>
                <a:latin typeface="Microsoft YaHei"/>
              </a:defRPr>
            </a:pPr>
            <a:r>
              <a:t>结论：</a:t>
            </a:r>
            <a:br/>
            <a:r>
              <a:t>• RFM特征对逻辑回归提升最大（+0.017），因为线性模型需要人工构建非线性特征</a:t>
            </a:r>
            <a:br/>
            <a:r>
              <a:t>• WOE分箱进一步提升了逻辑回归（+0.015），验证了证据权重编码的有效性</a:t>
            </a:r>
            <a:br/>
            <a:r>
              <a:t>• SMOTE是Recall提升的关键（+25个百分点），比特征工程对召回率的贡献更大</a:t>
            </a:r>
            <a:br/>
            <a:r>
              <a:t>• 随机森林本身具有非线性能力，特征工程收益相对较小但仍有正向贡献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92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0" tIns="180000" rtlCol="0" anchor="ctr"/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9. 业务策略建议（6大方向）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0000" y="6660000"/>
            <a:ext cx="10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66573"/>
                </a:solidFill>
                <a:latin typeface="Microsoft YaHei"/>
              </a:defRPr>
            </a:pPr>
            <a:r>
              <a:t>14 / 15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0000" y="1260000"/>
            <a:ext cx="3420000" cy="432000"/>
          </a:xfrm>
          <a:prstGeom prst="round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📝 合同优化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0000" y="1764000"/>
            <a:ext cx="3420000" cy="1620000"/>
          </a:xfrm>
          <a:prstGeom prst="round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>
                <a:solidFill>
                  <a:srgbClr val="000000"/>
                </a:solidFill>
                <a:latin typeface="Microsoft YaHei"/>
              </a:defRPr>
            </a:pPr>
            <a:r>
              <a:t>发现：月付客户流失率远超</a:t>
            </a:r>
            <a:br/>
            <a:r>
              <a:t>长期合同</a:t>
            </a:r>
            <a:br/>
            <a:br/>
            <a:r>
              <a:t>措施：推年付套餐+折扣激励</a:t>
            </a:r>
            <a:br/>
            <a:br/>
            <a:r>
              <a:t>预期：降流失15-20%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20000" y="1260000"/>
            <a:ext cx="3420000" cy="432000"/>
          </a:xfrm>
          <a:prstGeom prst="round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🔐 增值捆绑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20000" y="1764000"/>
            <a:ext cx="3420000" cy="1620000"/>
          </a:xfrm>
          <a:prstGeom prst="round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>
                <a:solidFill>
                  <a:srgbClr val="000000"/>
                </a:solidFill>
                <a:latin typeface="Microsoft YaHei"/>
              </a:defRPr>
            </a:pPr>
            <a:r>
              <a:t>发现：未订阅安全/技术支持</a:t>
            </a:r>
            <a:br/>
            <a:r>
              <a:t>流失率显著偏高</a:t>
            </a:r>
            <a:br/>
            <a:br/>
            <a:r>
              <a:t>措施：免费试用→付费转化</a:t>
            </a:r>
            <a:br/>
            <a:br/>
            <a:r>
              <a:t>预期：提升粘性+切换成本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00000" y="1260000"/>
            <a:ext cx="3420000" cy="432000"/>
          </a:xfrm>
          <a:prstGeom prst="round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💳 支付引导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00000" y="1764000"/>
            <a:ext cx="3420000" cy="1620000"/>
          </a:xfrm>
          <a:prstGeom prst="round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>
                <a:solidFill>
                  <a:srgbClr val="000000"/>
                </a:solidFill>
                <a:latin typeface="Microsoft YaHei"/>
              </a:defRPr>
            </a:pPr>
            <a:r>
              <a:t>发现：电子支票支付者</a:t>
            </a:r>
            <a:br/>
            <a:r>
              <a:t>流失率最高</a:t>
            </a:r>
            <a:br/>
            <a:br/>
            <a:r>
              <a:t>措施：引导自动转账</a:t>
            </a:r>
            <a:br/>
            <a:r>
              <a:t>给小额折扣</a:t>
            </a:r>
            <a:br/>
            <a:br/>
            <a:r>
              <a:t>预期：提升LTV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0000" y="3600000"/>
            <a:ext cx="3420000" cy="432000"/>
          </a:xfrm>
          <a:prstGeom prst="round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👥 分群运营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0000" y="4104000"/>
            <a:ext cx="3420000" cy="1620000"/>
          </a:xfrm>
          <a:prstGeom prst="round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>
                <a:solidFill>
                  <a:srgbClr val="000000"/>
                </a:solidFill>
                <a:latin typeface="Microsoft YaHei"/>
              </a:defRPr>
            </a:pPr>
            <a:r>
              <a:t>发现：4类客户</a:t>
            </a:r>
            <a:br/>
            <a:r>
              <a:t>风险/价值差异大</a:t>
            </a:r>
            <a:br/>
            <a:br/>
            <a:r>
              <a:t>措施：差异化策略</a:t>
            </a:r>
            <a:br/>
            <a:r>
              <a:t>精准投放</a:t>
            </a:r>
            <a:br/>
            <a:br/>
            <a:r>
              <a:t>预期：提升ROI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0000" y="3600000"/>
            <a:ext cx="3420000" cy="432000"/>
          </a:xfrm>
          <a:prstGeom prst="round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⚠️ 预警系统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20000" y="4104000"/>
            <a:ext cx="3420000" cy="1620000"/>
          </a:xfrm>
          <a:prstGeom prst="round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>
                <a:solidFill>
                  <a:srgbClr val="000000"/>
                </a:solidFill>
                <a:latin typeface="Microsoft YaHei"/>
              </a:defRPr>
            </a:pPr>
            <a:r>
              <a:t>发现：在网时长是最重要</a:t>
            </a:r>
            <a:br/>
            <a:r>
              <a:t>预测特征</a:t>
            </a:r>
            <a:br/>
            <a:br/>
            <a:r>
              <a:t>措施：3/6/12月节点</a:t>
            </a:r>
            <a:br/>
            <a:r>
              <a:t>分级预警</a:t>
            </a:r>
            <a:br/>
            <a:br/>
            <a:r>
              <a:t>预期：早期干预新客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00000" y="3600000"/>
            <a:ext cx="3420000" cy="432000"/>
          </a:xfrm>
          <a:prstGeom prst="round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📡 光纤优化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00000" y="4104000"/>
            <a:ext cx="3420000" cy="1620000"/>
          </a:xfrm>
          <a:prstGeom prst="round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>
                <a:solidFill>
                  <a:srgbClr val="000000"/>
                </a:solidFill>
                <a:latin typeface="Microsoft YaHei"/>
              </a:defRPr>
            </a:pPr>
            <a:r>
              <a:t>发现：光纤用户付费高</a:t>
            </a:r>
            <a:br/>
            <a:r>
              <a:t>但流失率也高</a:t>
            </a:r>
            <a:br/>
            <a:br/>
            <a:r>
              <a:t>措施：排查体验痛点</a:t>
            </a:r>
            <a:br/>
            <a:r>
              <a:t>针对性改善</a:t>
            </a:r>
            <a:br/>
            <a:br/>
            <a:r>
              <a:t>预期：降高ARPU流失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92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0" tIns="180000" rtlCol="0" anchor="ctr"/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10. 总结与展望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0000" y="6660000"/>
            <a:ext cx="10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66573"/>
                </a:solidFill>
                <a:latin typeface="Microsoft YaHei"/>
              </a:defRPr>
            </a:pPr>
            <a:r>
              <a:t>15 /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1080000"/>
            <a:ext cx="50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B3A5C"/>
                </a:solidFill>
                <a:latin typeface="Microsoft YaHei"/>
              </a:defRPr>
            </a:pPr>
            <a:r>
              <a:t>主要贡献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1620000"/>
            <a:ext cx="5040000" cy="28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Microsoft YaHei"/>
              </a:defRPr>
            </a:pPr>
            <a:r>
              <a:t>✅ 完整的数据挖掘全流程（EDA→预处理→特征工程→建模→评估→解释→应用）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Microsoft YaHei"/>
              </a:defRPr>
            </a:pPr>
            <a:r>
              <a:t>✅ 随机森林最优：ROC-AUC=0.8382，Recall=0.7139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Microsoft YaHei"/>
              </a:defRPr>
            </a:pPr>
            <a:r>
              <a:t>✅ RFM+WOE特征工程为线性模型带来+0.032 AUC提升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Microsoft YaHei"/>
              </a:defRPr>
            </a:pPr>
            <a:r>
              <a:t>✅ SMOTE将流失客户召回率提升约30个百分点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Microsoft YaHei"/>
              </a:defRPr>
            </a:pPr>
            <a:r>
              <a:t>✅ 4类客户聚类画像 + 6大业务策略建议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0000" y="1080000"/>
            <a:ext cx="54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B3A5C"/>
                </a:solidFill>
                <a:latin typeface="Microsoft YaHei"/>
              </a:defRPr>
            </a:pPr>
            <a:r>
              <a:t>未来改进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0000" y="1620000"/>
            <a:ext cx="5400000" cy="28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Microsoft YaHei"/>
              </a:defRPr>
            </a:pPr>
            <a:r>
              <a:t>🔮 引入MLP/Wide&amp;Deep神经网络对比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Microsoft YaHei"/>
              </a:defRPr>
            </a:pPr>
            <a:r>
              <a:t>🔮 构建客户行为时序特征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Microsoft YaHei"/>
              </a:defRPr>
            </a:pPr>
            <a:r>
              <a:t>🔮 Tomek Links+SMOTE组合策略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Microsoft YaHei"/>
              </a:defRPr>
            </a:pPr>
            <a:r>
              <a:t>🔮 在线A/B测试验证策略效果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Microsoft YaHei"/>
              </a:defRPr>
            </a:pPr>
            <a:r>
              <a:t>🔮 实时预测+自动告警系统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Microsoft YaHei"/>
              </a:defRPr>
            </a:pPr>
            <a:r>
              <a:t>🔮 引入外部数据丰富特征维度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0000" y="5040000"/>
            <a:ext cx="11160000" cy="900000"/>
          </a:xfrm>
          <a:prstGeom prst="round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1B3A5C"/>
                </a:solidFill>
                <a:latin typeface="Microsoft YaHei"/>
              </a:defRPr>
            </a:pPr>
            <a:r>
              <a:t>核心价值：从数据 → 模型 → 解释 → 策略，完整的端到端数据挖掘解决方案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1313</Words>
  <Application>Microsoft Office PowerPoint</Application>
  <PresentationFormat>宽屏</PresentationFormat>
  <Paragraphs>321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zhang13534877454@163.com</cp:lastModifiedBy>
  <cp:revision>2</cp:revision>
  <dcterms:created xsi:type="dcterms:W3CDTF">2013-01-27T09:14:16Z</dcterms:created>
  <dcterms:modified xsi:type="dcterms:W3CDTF">2026-06-26T10:18:23Z</dcterms:modified>
  <cp:category/>
</cp:coreProperties>
</file>